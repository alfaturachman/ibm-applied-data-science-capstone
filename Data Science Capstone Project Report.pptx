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73152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SpaceX Falcon 9 First Stage Landing Prediction</a:t>
            </a:r>
          </a:p>
          <a:p>
            <a:pPr>
              <a:spcBef>
                <a:spcPts val="1200"/>
              </a:spcBef>
              <a:defRPr sz="1500">
                <a:solidFill>
                  <a:srgbClr val="D4AF37"/>
                </a:solidFill>
                <a:latin typeface="Arial"/>
              </a:defRPr>
            </a:pPr>
            <a:r>
              <a:t>Complete Capstone Report: Data Ingestion, EDA, SQL, Geospatial Folium, Plotly Dash, Machine Learning &amp; Business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Principal Author: Alfaturachman</a:t>
            </a:r>
          </a:p>
          <a:p>
            <a:pPr>
              <a:spcBef>
                <a:spcPts val="400"/>
              </a:spcBef>
              <a:defRPr sz="1300">
                <a:solidFill>
                  <a:srgbClr val="CBD5E1"/>
                </a:solidFill>
              </a:defRPr>
            </a:pPr>
            <a:r>
              <a:t>Program: IBM Data Science Professional Certificate | Coursera Capstone</a:t>
            </a:r>
          </a:p>
          <a:p>
            <a:pPr>
              <a:spcBef>
                <a:spcPts val="800"/>
              </a:spcBef>
              <a:defRPr sz="1200">
                <a:solidFill>
                  <a:srgbClr val="D4AF37"/>
                </a:solidFill>
              </a:defRPr>
            </a:pPr>
            <a:r>
              <a:t>GitHub Repository: https://github.com/Alfaturachman/IBM-Applied-Data-Science-Capstone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Executive Summary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Data-Driven Reusability Analysis &amp; Marginal Launch Cost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Business Context &amp; Value Proposition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SpaceX advertises Falcon 9 launches at $62M compared to $165M+ from traditional aerospace competitors. Over 70% of cost savings stem directly from successful first-stage booster recovery. Predicting landing success enables competitors to dynamically bid on satellite contracts.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Complete Analytical Pipeline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Executed end-to-end data science lifecycle: REST API automated ingestion, Wikipedia web scraping, exploratory data analysis via SQL and Seaborn, interactive geospatial Folium mapping, reactive Plotly Dash dashboard, and supervised machine learning classification.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Key Predictive &amp; Empirical Results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All 4 classification models (Logistic Regression, SVM, Decision Tree, KNN) achieved identical 83.33% test accuracy (15/18 correct). KSC LC-39A was identified as the premier launch facility (76.92% success). Payloads between 2,000-4,000 kg achieved 72.7% success.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Code Repository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All completed code artifacts and interactive dashboards available at: https://github.com/Alfaturachman/IBM-Applied-Data-Science-Capstone/blob/main/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Introduction &amp; Problem Statement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Understanding the Mechanics of First-Stage Booster Reusability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First Stage Economics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Over 70% of rocket construction costs are concentrated in the first-stage booster, including 9 Merlin 1D engines and titanium grid fins.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The Aerospace Bidding Dilemma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Traditional aerospace competitors must price launches based on single-use expendable rockets. Determining SpaceX's recovery probability accurately reveals their marginal launch cost basis ($62M vs $165M+).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Machine Learning Formulation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Supervised Binary Classification problem. Target variable Y is Class (1 = Successful Landing, 0 = Failed Landing). Feature matrix X contains 80 numeric attributes after one-hot encoding.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Notebook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Full project repository: https://github.com/Alfaturachman/IBM-Applied-Data-Science-Capstone/blob/main/</a:t>
            </a:r>
          </a:p>
        </p:txBody>
      </p:sp>
      <p:pic>
        <p:nvPicPr>
          <p:cNvPr id="9" name="Picture 8" descr="e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Collection: SpaceX REST API Methodology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Automated API Ingestion Pipeline &amp; Attribute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Primary API Endpoint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Queried the official SpaceX REST API endpoint https://api.spacexdata.com/v4/launches/past using Python requests.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Filtering Criteria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Filtered launch records strictly for Falcon 9 missions, removing early Falcon 1 test flights.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Auxiliary Endpoint Resolution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Primary launch data contains identification hashes that required secondary API queries: /v4/rockets/ (Falcon 9 identification), /v4/payloads/ (PayloadMass and target Orbit), /v4/launchpads/ (LaunchSite coordinates), and /v4/cores/ (landing outcome, block serial, reuse count).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Ingestion Logic Flowchart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GET /v4/launches/past -&gt; Filter Falcon 9 -&gt; Extract Core Hashes -&gt; Query Secondary Endpoints -&gt; Construct Consolidated Pandas DataFrame (90 launches).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API Notebook: https://github.com/Alfaturachman/IBM-Applied-Data-Science-Capstone/blob/main/jupyter-labs-spacex-data-collection-api-v2.ipynb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Collection: Web Scraping Methodology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BeautifulSoup HTML Extraction from Wikipedia Falcon 9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Data Source &amp; Objective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Scraped Wikipedia 'List of Falcon 9 and Falcon Heavy launches' to independently validate API records and cross-verify historical flight manifests.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Parsing Architecture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Extracted HTML content using requests.get() and parsed Document Object Model (DOM) using BeautifulSoup(response.text, 'html.parser').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Table &amp; Column Normalization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Targeted HTML tables with class 'wikitable'. Extracted and cleaned canonical headers: Flight No., Date, Version Booster, Launch Site, Payload, Orbit, Customer, and Launch Outcome.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Row Extraction &amp; Data Cleansing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Iterated through &lt;tr&gt; rows, stripped footnote reference tags (e.g., [1], [2]), stripped whitespace, and parsed payload mass in kilograms into numerical floats.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Web Scraping Notebook: https://github.com/Alfaturachman/IBM-Applied-Data-Science-Capstone/blob/main/jupyter-labs-webscraping.ipynb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Data Wrangling Methodology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Data Cleaning, Imputation, Target Label Encoding, and Feature Matrix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Handling Missing Data (PayloadMass)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Identified missing values in PayloadMass for classified government flights. Applied statistical mean imputation: df['PayloadMass'].fillna(df['PayloadMass'].mean(), inplace=True).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Creation of Binary Target Variable (Class)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Parsed landing Outcome text strings (True Ocean, False Ocean, True RTLS, False RTLS, True ASDS, False ASDS, None). Mapped successful recoveries to Class = 1, and failures/unattempted to Class = 0.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Target Distribution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Resulted in 90 total launches: 60 successful landings (66.7%) and 30 failed landings (33.3%).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One-Hot Encoding for Categorical Features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Transformed Orbit (11 categories), LaunchSite (3 categories), LandingPad (5 categories), and Serial (53 categories) using pd.get_dummies(), yielding an 80-feature numerical matrix (dataset_part_3.csv).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Data Wrangling Notebook: https://github.com/Alfaturachman/IBM-Applied-Data-Science-Capstone/blob/main/labs-jupyter-spacex-Data-wrangling-v2.ipynb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EDA and Data Visualization Methodology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Visual Exploration Framework using Seaborn &amp; Matplotlib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Visual Exploration Goals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Identified decision boundaries, evaluated feature correlations, and detected operational patterns across 90 SpaceX missions.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Flight Number vs. Payload Mass (Scatter Plot)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Tested whether SpaceX's landing success rate improved over time (higher flight numbers) and examined the impact of heavy payloads.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Launch Site vs. Payload Mass (Categorical Scatter)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Analyzed launch facility specialization and payload capacities across CCAFS, KSC, and VAFB.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Success Rate by Orbit Type (Bar Chart)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Evaluated recovery rates across diverse orbital trajectories (LEO, GTO, SSO, ISS, Polar, VLEO).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Annual Success Progression Trend (Line Plot)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Tracked the annual learning curve and hardware maturation of the Falcon 9 booster from 2010 to 2020.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Visualization Notebook: https://github.com/Alfaturachman/IBM-Applied-Data-Science-Capstone/blob/main/jupyter-labs-eda-dataviz-v2.ipynb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Predictive Analysis (Classification) Methodology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Feature Standardization, Train-Test Partitioning, Cross-Validation, and 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Feature Scaling (StandardScaler)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Transformed the 80-feature matrix using StandardScaler (z = (x - mean)/std) to ensure scale-sensitive algorithms (SVM, KNN, Logistic Regression) converge without feature bias.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Data Splitting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Partitioned dataset using train_test_split(X, Y, test_size=0.2, random_state=2), yielding exactly 72 training samples and 18 test samples.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Cross-Validation &amp; Grid Search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Applied 10-fold cross-validation (cv=10) with GridSearchCV to tune hyperparameters: Logistic Regression (C, penalty, solver), SVM (kernel, C, gamma), Decision Tree (criterion, max_depth, splitter, min_samples_split), and KNN (n_neighbors, p, algorithm).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Model Selection Strategy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Evaluated models using both 10-fold CV validation scores and generalization performance on the unseen 18-sample test dataset.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Machine Learning Notebook: https://github.com/Alfaturachman/IBM-Applied-Data-Science-Capstone/blob/main/SpaceX-Machine-Learning-Prediction-Part-5-v1.ipynb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EDA with Visualization Results: Flight Number vs. Payload Mass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Evaluating Recovery Success Across Launch Progression and Mission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Early Flights Learning Curve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Launches 1-25 exhibited high failure rates as SpaceX iteratively tested atmospheric re-entry burn profiles and grid fin control algorithms.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Operational Maturation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Launches beyond flight #40 demonstrated a landing success rate exceeding 80%, regardless of launch pad.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Heavy Payload Clustering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Massive payload missions (&gt;8,000 kg) were clustered in later flights (principally Starlink satellite batches to LEO), all achieving near-perfect recovery records.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Visual Analytics Notebook: https://github.com/Alfaturachman/IBM-Applied-Data-Science-Capstone/blob/main/jupyter-labs-eda-dataviz-v2.ipynb</a:t>
            </a:r>
          </a:p>
        </p:txBody>
      </p:sp>
      <p:pic>
        <p:nvPicPr>
          <p:cNvPr id="9" name="Picture 8" descr="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EDA with Visualization Results: Success Rate by Orbit Type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Analyzing Re-entry Thermodynamics and Energy Requirements Across Orbital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100% Success Orbits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ES-L1, GEO, HEO, and SSO achieved 100% recovery rates. Sun-Synchronous and Earth-Moon Lagrange trajectories provide favorable booster separation geometries.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Moderate Success Orbits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VLEO (~85%), LEO (~71%), and ISS missions (~62%) exhibited high recovery reliability.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Most Challenging Orbit (GTO)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Geostationary Transfer Orbit (GTO) registered the lowest success rate (~52%). Boosters delivering GTO payloads experience extreme re-entry velocity and thermal stress.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Visual Analytics Notebook: https://github.com/Alfaturachman/IBM-Applied-Data-Science-Capstone/blob/main/jupyter-labs-eda-dataviz-v2.ipynb</a:t>
            </a:r>
          </a:p>
        </p:txBody>
      </p:sp>
      <p:pic>
        <p:nvPicPr>
          <p:cNvPr id="9" name="Picture 8" descr="eda_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EDA with Visualization Results: Annual Success Progression Trend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Documenting SpaceX's 10-Year Rocket Recovery Learning Curve (2010 - 2020)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Inception Era (2010 - 2013)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0% recovery rate. Boosters were deliberately expended in the Atlantic Ocean to gather preliminary telemetry and aerodynamic data.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Experimental Recovery (2014 - 2016)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Gradual progress from 33% to 60%. Achieved the first historic successful ground-pad landing (LZ-1) on Dec 22, 2015, and drone ship recovery on April 8, 2016.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Full Reusability Era (2017 - 2020)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Success rate surged past 80%, reaching 84.6% by 2020. The introduction of Booster Block 5 in 2018 established industrial-grade reusability.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Visual Analytics Notebook: https://github.com/Alfaturachman/IBM-Applied-Data-Science-Capstone/blob/main/jupyter-labs-eda-dataviz-v2.ipynb</a:t>
            </a:r>
          </a:p>
        </p:txBody>
      </p:sp>
      <p:pic>
        <p:nvPicPr>
          <p:cNvPr id="9" name="Picture 8" descr="e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EDA with SQL Results: Quantitative Database Extraction Queries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Explicit SQL Queries and Outputs Executed on SpaceX Database (my_data1.db)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1 - Unique Launch Sites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DISTINCT Launch_Site FROM SPACEXTBL; -&gt; Outputs: CCAFS LC-40, CCAFS SLC-40, KSC LC-39A, VAFB SLC-4E.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2 - 5 Records Starting with 'CCA'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* FROM SPACEXTBL WHERE Launch_Site LIKE 'CCA%' LIMIT 5; -&gt; Successfully retrieved 5 Cape Canaveral launches.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3 - NASA CRS Total Payload Mass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SUM(PAYLOAD_MASS__KG_) FROM SPACEXTBL WHERE Customer='NASA (CRS)'; -&gt; Output: 45,596 kg.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4 - Average Payload Mass (F9 v1.1)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AVG(PAYLOAD_MASS__KG_) FROM SPACEXTBL WHERE Booster_Version LIKE 'F9 v1.1%'; -&gt; Output: 2,928.4 kg.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5 - First Ground Pad Success Date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MIN(Date) FROM SPACEXTBL WHERE Landing_Outcome='Success (ground pad)'; -&gt; Output: 2015-12-22 (Booster B1019 at LZ-1).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6 - Drone Ship Boosters (4,000-6,000 kg)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Booster_Version FROM SPACEXTBL WHERE Landing_Outcome='Success (drone ship)' AND PAYLOAD_MASS__KG_ BETWEEN 4000 AND 6000; -&gt; Output: B1022, B1026, B1031.1.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7 - Total Mission Outcomes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Mission_Outcome, COUNT(*) FROM SPACEXTBL GROUP BY Mission_Outcome; -&gt; Success: 98, Failure (in flight): 1, Success (payload status): 1.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8 - Boosters with Max Payload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SELECT Booster_Version FROM SPACEXTBL WHERE PAYLOAD_MASS__KG_ = (SELECT MAX(PAYLOAD_MASS__KG_) FROM SPACEXTBL); -&gt; Output: B1048.4, B1049.4, B1051.3, B1056.4, B1058.3, B1060.2 (15,600 kg Starlink flights).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Task 9 &amp; 10 - Monthly 2015 Drone Ship Failures &amp; Outcome Ranking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Retrieved Jan-Dec 2015 failure events and ranked all landing outcomes descending by count between 2010-06-04 and 2017-03-20.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Dedicated SQL Notebook &amp; SQLite Database: https://github.com/Alfaturachman/IBM-Applied-Data-Science-Capstone/blob/main/jupyter-labs-eda-sql-coursera_sqllite.ipynb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Interactive Map Results using Folium: Geospatial Proximity to Infrastructure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Spatial Clustering &amp; Haversine Distance Analysis on Strategic Facilities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Launch Site Coordinates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CCAFS LC-40: 28.5623 N, 80.5774 W; CCAFS SLC-40: 28.5632 N, 80.5768 W; KSC LC-39A: 28.5733 N, 80.6469 W; VAFB SLC-4E: 34.6328 N, 120.6107 W.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MarkerCluster Visual Analytics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Grouped 90 launches into color-coded clusters (Green = Success, Red = Failure). Clusters immediately reveal higher concentration of green markers at KSC LC-39A.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Haversine Proximity (CCAFS SLC-40)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Coastline: 0.90 km (flight over water for safety); Highway: 0.58 km (heavy equipment transit); Railway: 1.28 km (rocket stage logistics); City (Titusville): 23.19 km (residential safety buffer).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Strategic Design Logic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Launch sites are uniformly placed on coastlines adjacent to logistics infrastructure while maintaining &gt;20 km separation from populated cities.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Dedicated Folium Notebook: https://github.com/Alfaturachman/IBM-Applied-Data-Science-Capstone/blob/main/lab-jupyter-launch-site-location-v2.ipynb</a:t>
            </a:r>
          </a:p>
        </p:txBody>
      </p:sp>
      <p:pic>
        <p:nvPicPr>
          <p:cNvPr id="9" name="Picture 8" descr="folium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494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Plotly Dash Interactive Dashboard Results: Launch Site Performance &amp; Payload Analysis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Business Answers Derived from Dynamic Dropdown &amp; RangeSlider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Q1 &amp; Q2 - Highest Success Launch Site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KSC LC-39A is the top-performing facility: 10 successful landings (41.7% of all recoveries) with the highest success rate of 76.92% (10/13).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Q3 - Optimal Payload Mass Range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Payloads between 2,000 kg and 4,000 kg achieved the highest landing success rate of 72.7% (8/11 missions succeeded).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Q4 - Highest Risk Payload Range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Payloads between 6,000 kg and 8,000 kg experienced the lowest success rate of 0% (0/4 missions succeeded, all lost at sea).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Q5 - FT Booster Version Reliability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Booster Version Block 5 (v1.2 B1049-B1062) achieved 100% landing success across all payload ranges and orbits.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Application Script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Interactive Web Application Script: https://github.com/Alfaturachman/IBM-Applied-Data-Science-Capstone/blob/main/spacex_dash_app.py</a:t>
            </a:r>
          </a:p>
        </p:txBody>
      </p:sp>
      <p:pic>
        <p:nvPicPr>
          <p:cNvPr id="9" name="Picture 8" descr="dash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494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Machine Learning Classification Results: Multi-Algorithm Performance Comparison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Cross-Validation and Unseen Test Set Evaluation Across 4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10-Fold CV Validation Scores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Decision Tree achieved the highest CV score (87.22%), followed by SVM (84.82%), KNN (84.82%), and Logistic Regression (84.64%).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Generalization Test Accuracy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All 4 models achieved identical 83.33% test accuracy on the unseen 18-sample evaluation dataset (15 correct predictions out of 18).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Optimal Hyperparameters (GridSearchCV)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Logistic Regression: C=0.01, penalty='l2', solver='lbfgs'. SVM: kernel='sigmoid', C=1.0, gamma='scale'. Decision Tree: criterion='gini', splitter='random'. KNN: n_neighbors=10, p=1, algorithm='auto'.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Production Model Recommendation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Logistic Regression is recommended for production deployment due to high computational efficiency, interpretability, and robust probability calibration.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Machine Learning Prediction Notebook: https://github.com/Alfaturachman/IBM-Applied-Data-Science-Capstone/blob/main/SpaceX-Machine-Learning-Prediction-Part-5-v1.ipynb</a:t>
            </a:r>
          </a:p>
        </p:txBody>
      </p:sp>
      <p:pic>
        <p:nvPicPr>
          <p:cNvPr id="9" name="Picture 8" descr="m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23494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Classification Evaluation &amp; Confusion Matrix Diagnostics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Detailed Error Breakdown, Metric Evaluation, and Identical Performance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Confusion Matrix Values (18 Test Samples)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True Positives (TP) = 12, True Negatives (TN) = 3, False Positives (FP) = 3, False Negatives (FN) = 0.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Diagnostic Performance Metrics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Overall Accuracy = 83.33% (15/18); Precision = 80.00% (12/15); Recall (Sensitivity) = 100.00% (12/12); Specificity = 50.00% (3/6); F1-Score = 88.89%.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Why Did All 4 Models Yield Identical Test Accuracy?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1. Small Test Sample Size (18 instances): Each single sample represents 5.56% (1/18) of the total accuracy score. 2. Shared Decision Boundary: The 3 misclassified samples represent high-mass edge cases where linear and tree splits agree. 3. Zero False Negatives: All models successfully captured 100% of true landings.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Lab Code URL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1E293B"/>
                </a:solidFill>
              </a:rPr>
              <a:t>Dedicated ML Notebook: https://github.com/Alfaturachman/IBM-Applied-Data-Science-Capstone/blob/main/SpaceX-Machine-Learning-Prediction-Part-5-v1.ipynb</a:t>
            </a:r>
          </a:p>
        </p:txBody>
      </p:sp>
      <p:pic>
        <p:nvPicPr>
          <p:cNvPr id="9" name="Picture 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47548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Conclusion &amp; Strategic Business Recommendations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Synthesis of Empirical Findings, Cost Implications, and Aerospace Bidding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Commercial Feasibility of Machine Learning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First-stage landing outcome can be predicted with 83.33% accuracy, allowing competitors to forecast SpaceX's marginal costs and bid competitively on satellite launch contracts.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Payload &amp; Orbit Strategic Guidelines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Mid-mass payloads (2,000 - 4,000 kg) and LEO/SSO orbits have very high landing probabilities (&gt;72%), allowing SpaceX to bid at $62M. Heavy GTO payloads (&gt;6,000 kg) carry high landing failure risks, forcing higher expendable pricing.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Launch Site Operational Recommendation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Contractors requiring guaranteed re-flight booster turnaround should prioritize KSC LC-39A (76.92% success rate) over Cape Canaveral SLC-40 (42.86%).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Industrial Block 5 Maturation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Since the introduction of Booster Block 5, hardware reliability has reached 100%, fundamentally transforming spaceflight economics.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Complete Project Repository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Full open-source codebase &amp; deliverables: https://github.com/Alfaturachman/IBM-Applied-Data-Science-Capstone/blob/main/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Innovative Insights &amp; Future Technical Roadmap</a:t>
            </a:r>
          </a:p>
          <a:p>
            <a:pPr>
              <a:defRPr sz="1100">
                <a:solidFill>
                  <a:srgbClr val="D4AF37"/>
                </a:solidFill>
                <a:latin typeface="Arial"/>
              </a:defRPr>
            </a:pPr>
            <a:r>
              <a:t>Financial Impact of Misclassifications, Cost-Sensitive Learning, and SMOTE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371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IBM Applied Data Science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SpaceX Falcon 9 Landing Prediction | Executive Portfolio Report | Learner: alfaturachman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058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Asymmetric Cost Analysis of Classification Errors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Zero False Negatives (FN = 0): Recovery ships and retrieval teams are never omitted when a booster lands. False Positives (FP = 3): Predicted landing, but booster crashed at sea. Triggers unrecoverable drone ship deployment costs (~$200,000 to $500,000 per mission) plus payload schedule disruption.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Cost-Sensitive Learning &amp; SMOTE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Because successful landings constitute 66.7% of the dataset, models naturally bias toward success. Applying SMOTE (Synthetic Minority Over-sampling Technique) or setting class_weight='balanced' will penalize False Positives and optimize economic utility.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Creativity &amp; Enterprise Design Architecture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Developed a unified corporate design system featuring high-contrast color palettes, custom geodetic distance visualizations, reactive dashboards, and direct code navigation links.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b="1" sz="1200">
                <a:solidFill>
                  <a:srgbClr val="1B365D"/>
                </a:solidFill>
              </a:rPr>
              <a:t>Complete Open-Source Repository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1E293B"/>
                </a:solidFill>
              </a:rPr>
              <a:t>All executed notebooks and scripts available at: https://github.com/Alfaturachman/IBM-Applied-Data-Science-Capstone/blob/main/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