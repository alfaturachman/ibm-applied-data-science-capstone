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SpaceX Falcon 9 First Stage Landing Prediction</a:t>
            </a:r>
          </a:p>
          <a:p>
            <a:pPr>
              <a:defRPr sz="1600">
                <a:solidFill>
                  <a:srgbClr val="E2E8F0"/>
                </a:solidFill>
                <a:latin typeface="Arial"/>
              </a:defRPr>
            </a:pPr>
            <a:r>
              <a:t>Applied Data Science Capstone Project -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Author / Learner: </a:t>
            </a:r>
            <a:r>
              <a:rPr sz="1400">
                <a:solidFill>
                  <a:srgbClr val="1E293B"/>
                </a:solidFill>
              </a:rPr>
              <a:t>alfaturachman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Course Platform: </a:t>
            </a:r>
            <a:r>
              <a:rPr sz="1400">
                <a:solidFill>
                  <a:srgbClr val="1E293B"/>
                </a:solidFill>
              </a:rPr>
              <a:t>IBM Data Science Professional Certificate | Coursera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Project Scope: </a:t>
            </a:r>
            <a:r>
              <a:rPr sz="1400">
                <a:solidFill>
                  <a:srgbClr val="1E293B"/>
                </a:solidFill>
              </a:rPr>
              <a:t>Applied Data Science Capstone (Modules 1 - 5)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Public GitHub Repository: </a:t>
            </a:r>
            <a:r>
              <a:rPr sz="1400">
                <a:solidFill>
                  <a:srgbClr val="1E293B"/>
                </a:solidFill>
              </a:rPr>
              <a:t>https://github.com/alfaturachman/IBM-Applied-Data-Science-Capstone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Deliverables Included: </a:t>
            </a:r>
            <a:r>
              <a:rPr sz="1400">
                <a:solidFill>
                  <a:srgbClr val="1E293B"/>
                </a:solidFill>
              </a:rPr>
              <a:t>Executed Jupyter Notebooks (Parts 1-5), SQLite Database, Folium Map, Plotly Dash App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Submission Date: </a:t>
            </a:r>
            <a:r>
              <a:rPr sz="1400">
                <a:solidFill>
                  <a:srgbClr val="1E293B"/>
                </a:solidFill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Executive Summary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End-to-End Analytics &amp; Predictive Modeling of Falcon 9 First Stage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Project Context &amp; Business Value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SpaceX drastically reduces launch costs by reusing Falcon 9 first-stage boosters ($62M vs. $165M+ from expendable competitors). Determining booster landing outcome is essential to bid competitively on commercial payload contracts.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End-to-End Methodology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Collected 90 launches via REST API and Wikipedia web scraping (BeautifulSoup); cleaned and imputed missing PayloadMass; created binary target Class (1=Success, 0=Failure); engineered 80 features via One-Hot Encoding; performed EDA using SQLite database queries and Seaborn; built geospatial maps in Folium; developed interactive dashboards in Plotly Dash; optimized 4 classification models via GridSearchCV.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Key Quantitative Findings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All 4 classification models (Logistic Regression, SVM, Decision Tree, KNN) achieved 83.33% accuracy on the unseen 18-sample test set (15 correct predictions).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Top Launch Facility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KSC LC-39A achieved the highest success rate (76.92%, 10 successes). Payloads between 2,000 kg and 4,000 kg recorded the highest landing success rate (72.7%).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Project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Full code, notebooks, and database available at: https://github.com/alfaturachman/IBM-Applied-Data-Science-Capstone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Project Introduction &amp; Problem Statement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Commercial Background, Value Proposition, and Machine Learning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217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Commercial Launch Disruption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SpaceX offers Falcon 9 commercial launches at ~$62M, saving clients over $100M compared to traditional aerospace providers.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First Stage Dominance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Over 70% of total rocket construction cost is concentrated in the first-stage booster, including nine Merlin 1D engines and titanium grid fins.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The Business Problem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Competing aerospace firms need to accurately estimate SpaceX's launch costs. Predicting whether the first stage will land safely determines if SpaceX achieves a $62M cost basis or absorbs an expendable launch cost.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Machine Learning Problem Formulation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Supervised Binary Classification problem. Target variable Y is Class (1 = Successful Landing, 0 = Failed Landing). Feature matrix X contains 80 numeric attributes.</a:t>
            </a:r>
          </a:p>
        </p:txBody>
      </p:sp>
      <p:pic>
        <p:nvPicPr>
          <p:cNvPr id="8" name="Picture 7" descr="ed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7548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Collection: SpaceX REST API Methodology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Automated API Ingestion Pipeline &amp; Attribute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Primary API Endpoint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Queried the official SpaceX REST API endpoint https://api.spacexdata.com/v4/launches/past using Python requests.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Filtering Criteria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Filtered launch records strictly for Falcon 9 missions, removing early Falcon 1 test flights.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Auxiliary Endpoint Resolution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Primary launch data contains identification hashes that required secondary API queries: /v4/rockets/ (Falcon 9 identification), /v4/payloads/ (PayloadMass and target Orbit), /v4/launchpads/ (LaunchSite coordinates), and /v4/cores/ (landing outcome, block serial, reuse count).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Ingestion Logic Flowchart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GET /v4/launches/past -&gt; Filter Falcon 9 -&gt; Extract Core Hashes -&gt; Query Secondary Endpoints -&gt; Construct Consolidated Pandas DataFrame (90 launches).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Code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Full API extraction notebook available at: https://github.com/alfaturachman/IBM-Applied-Data-Science-Capstone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Collection: Web Scraping Methodology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BeautifulSoup HTML Extraction from Wikipedia Falcon 9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Data Source &amp; Objective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Scraped Wikipedia 'List of Falcon 9 and Falcon Heavy launches' to independently validate API records and cross-verify historical flight manifests.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Parsing Architecture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Extracted HTML content using requests.get() and parsed Document Object Model (DOM) using BeautifulSoup(response.text, 'html.parser').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Table &amp; Column Normalization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Targeted HTML tables with class 'wikitable'. Extracted and cleaned canonical headers: Flight No., Date, Version Booster, Launch Site, Payload, Orbit, Customer, and Launch Outcome.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Row Extraction &amp; Data Cleansing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Iterated through &lt;tr&gt; rows, stripped footnote reference tags (e.g., [1], [2]), stripped whitespace, and parsed payload mass in kilograms into numerical floats.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Code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Full scraping notebook available at: https://github.com/alfaturachman/IBM-Applied-Data-Science-Capstone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Wrangling Methodology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Data Cleaning, Imputation, Target Label Encoding, and Feature Matrix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Handling Missing Data (PayloadMass)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Identified missing values in PayloadMass for classified government flights. Applied statistical mean imputation: df['PayloadMass'].fillna(df['PayloadMass'].mean(), inplace=True).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Creation of Binary Target Variable (Class)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Parsed landing Outcome text strings (True Ocean, False Ocean, True RTLS, False RTLS, True ASDS, False ASDS, None). Mapped successful recoveries to Class = 1, and failures/unattempted to Class = 0.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Target Distribution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Resulted in 90 total launches: 60 successful landings (66.7%) and 30 failed landings (33.3%).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One-Hot Encoding for Categorical Features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Transformed Orbit (11 categories), LaunchSite (3 categories), LandingPad (5 categories), and Serial (53 categories) using pd.get_dummies(), yielding an 80-feature numerical matrix (dataset_part_3.csv).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Code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Full wrangling notebook available at: https://github.com/alfaturachman/IBM-Applied-Data-Science-Capstone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EDA and Data Visualization Methodology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Visual Exploration Framework using Seaborn &amp; Matplotlib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Visual Exploration Goals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Identified decision boundaries, evaluated feature correlations, and detected operational patterns across 90 SpaceX missions.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Flight Number vs. Payload Mass (Scatter Plot)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Tested whether SpaceX's landing success rate improved over time (higher flight numbers) and examined the impact of heavy payloads.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Launch Site vs. Payload Mass (Categorical Scatter)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Analyzed launch facility specialization and payload capacities across CCAFS, KSC, and VAFB.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Success Rate by Orbit Type (Bar Chart)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Evaluated recovery rates across diverse orbital trajectories (LEO, GTO, SSO, ISS, Polar, VLEO).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Annual Success Progression Trend (Line Plot)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Tracked the annual learning curve and hardware maturation of the Falcon 9 booster from 2010 to 2020.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Code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Full visualization script available at: https://github.com/alfaturachman/IBM-Applied-Data-Science-Capstone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EDA with SQL Methodology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Database Architecture, Schema Setup, and Relational Querying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Database Environment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Loaded the cleaned SpaceX dataset into an embedded SQLite database (my_data1.db) using sqlite3 and the %sql IPython extension.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Table Schema Setup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Configured table SPACEXTBL with appropriate data types for Date, Booster_Version, Launch_Site, Payload, PAYLOAD_MASS__KG_, Orbit, Customer, Mission_Outcome, and Landing_Outcome.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Core SQL Queries Executed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1. Distinct launch sites (SELECT DISTINCT Launch_Site). 2. NASA payload accumulation (SUM(PAYLOAD_MASS__KG_) WHERE Customer='NASA (CRS)'). 3. Average payload mass for successful landings (AVG). 4. First ground pad landing date (MIN(Date) WHERE Landing_Outcome='Success (ground pad)'). 5. Drone ship successes between 4,000-6,000 kg. 6. Maximum payload boosters.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Code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Full SQL queries and database available at: https://github.com/alfaturachman/IBM-Applied-Data-Science-Capstone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Interactive Visual Analytics Methodology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Geospatial Folium Mapping &amp; Reactive Plotly Dash Web Application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Folium Geospatial Mapping Framework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Built Leaflet.js-based interactive maps centered on US launch facilities. Added 1,000-meter safety radius circles (folium.Circle) and clustered launch outcomes (MarkerCluster) with green/red markers.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Haversine Proximity Calculations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Calculated spherical geodetic distances from launch pads to coastlines, highways, railways, and cities, visualizing proximity lines via folium.PolyLine.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Plotly Dash Web Application Framework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Constructed reactive Python web application with dcc.Dropdown (ALL sites vs. specific site) and dcc.RangeSlider (payload mass 0 - 10,000 kg).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Reactive Callbacks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Configured @app.callback routines to dynamically update px.pie (success counts/ratios) and px.scatter (payload vs outcome colored by booster category).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Code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Application script spacex_dash_app.py available at: https://github.com/alfaturachman/IBM-Applied-Data-Science-Capstone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Predictive Analysis (Classification) Methodology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Feature Standardization, Train-Test Partitioning, Cross-Validation, and 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Feature Scaling (StandardScaler)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Transformed the 80-feature matrix using StandardScaler (z = (x - mean)/std) to ensure scale-sensitive algorithms (SVM, KNN, Logistic Regression) converge without feature bias.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Data Splitting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Partitioned dataset using train_test_split(X, Y, test_size=0.2, random_state=2), yielding exactly 72 training samples and 18 test samples.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Cross-Validation &amp; Grid Search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Applied 10-fold cross-validation (cv=10) with GridSearchCV to tune hyperparameters: Logistic Regression (C, penalty, solver), SVM (kernel, C, gamma), Decision Tree (criterion, max_depth, splitter, min_samples_split), and KNN (n_neighbors, p, algorithm).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Code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Full predictive notebook available at: https://github.com/alfaturachman/IBM-Applied-Data-Science-Capstone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EDA with Visualization Results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Empirical Patterns Across Flight Numbers, Payload Classes, and Orbital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217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Flight Number vs. Success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Early flights (1-25) had high failure rates during initial rocket development. After flight #40, success rates consistently exceeded 80%.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Payload Mass Impact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In the heavy payload range (&gt;8,000 kg), launches were primarily to LEO (e.g., Starlink) with near-perfect landing recovery rates.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Orbit-Specific Success Rates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100% Success: ES-L1, GEO, HEO, SSO. Moderate Success: VLEO (~85%), LEO (~71%), ISS (~62%). Challenging: GTO (~52%) due to severe re-entry thermal loads.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Annual Trend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Success rate progressed from 0% in 2010 to &gt;80% in 2020, demonstrating rapid hardware maturation.</a:t>
            </a:r>
          </a:p>
        </p:txBody>
      </p:sp>
      <p:pic>
        <p:nvPicPr>
          <p:cNvPr id="8" name="Picture 7" descr="eda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7548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EDA with SQL Results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Quantitative Database Extraction Findings on Launch Sites, Payloads, and Boosters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Distinct Launch Sites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Exactly 4 launch sites identified: CCAFS LC-40, CCAFS SLC-40, KSC LC-39A, and VAFB SLC-4E.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NASA Cumulative Payload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Total payload mass delivered for NASA (CRS) missions: 45,596 kg.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Average Successful Payload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Average payload mass for successful landings: 5,408 kg.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First Ground Pad Recovery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Earliest successful ground landing occurred on 2015-12-22 (Booster B1019 at LZ-1).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Successful Drone Ship Boosters (4,000 - 6,000 kg)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Boosters B1022.1, B1026.1, B1021.2, and B1031.2 successfully landed on drone ships within this payload bracket.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Maximum Payload Boosters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Maximum payload mass: 15,600 kg (delivered by Block 5 boosters B1048.4, B1049.4, B1051.3, B1056.4 for Starlink missions).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Interactive Map Results using Folium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Geospatial Distribution, Outcome Clustering, and Infrastructure Proximity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217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Coastal Placement Strategy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All launch sites are positioned directly on coastlines (Florida Atlantic coast, California Pacific coast) to ensure launch trajectories fly over water, minimizing public hazard.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Proximity Analysis for CCAFS SLC-40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Distance to Coastline: 0.90 km (direct ocean buffer).
Distance to Highway: 0.58 km (oversize rocket stage transport).
Distance to Railway: 1.28 km (heavy propellant and hardware delivery).
Distance to Nearest City (Titusville): 23.19 km (ensures safe perimeter &gt;20 km).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Marker Clustering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MarkerCluster visualizes high success density at KSC LC-39A compared to older Cape Canaveral pads.</a:t>
            </a:r>
          </a:p>
        </p:txBody>
      </p:sp>
      <p:pic>
        <p:nvPicPr>
          <p:cNvPr id="8" name="Picture 7" descr="folium_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754880" cy="23494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Plotly Dash Dashboard Results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Dynamic Success Proportions, Launch Site Superiority, and Payload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217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Most Successful Launch Site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KSC LC-39A leads with 10 successful landings (41.7% of all successes) and the highest overall success rate of 76.92%.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Site Ranking by Success Rate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KSC LC-39A (76.92%) &gt; CCAFS SLC-40 (42.86%) &gt; VAFB SLC-4E (40.00%) &gt; CCAFS LC-40 (26.92%).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Payload Sweet Spot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Payloads between 2,000 kg and 4,000 kg recorded the highest success rate at 72.7%.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Most Vulnerable Payload Range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Payloads between 6,000 kg and 8,000 kg recorded a 0% landing success rate (0 of 4 launches succeeded).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Booster Evolution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Booster Block 5 (B5) achieved a 100% success rate, proving the reliability of reusable heat shielding.</a:t>
            </a:r>
          </a:p>
        </p:txBody>
      </p:sp>
      <p:pic>
        <p:nvPicPr>
          <p:cNvPr id="8" name="Picture 7" descr="dash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754880" cy="23494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Predictive Analysis (Classification) Results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Model Evaluation Metrics, Confusion Matrix Breakdown, and Optimal Model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217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Model Accuracy Evaluation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All four tuned models achieved an identical test accuracy of 83.33% on the 18 unseen test samples (15 correct predictions out of 18).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Optimal Hyperparameters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Logistic Regression: C=0.01, penalty='l2'. SVM: kernel='sigmoid', C=1.0, gamma=0.0316. Decision Tree: criterion='entropy', max_depth=8. KNN: n_neighbors=5, p=1.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Confusion Matrix Breakdown (N = 18)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True Positives (TP): 12 | True Negatives (TN): 3
False Positives (FP): 3 | False Negatives (FN): 0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B365D"/>
                </a:solidFill>
              </a:rPr>
              <a:t>Model Recommendation</a:t>
            </a:r>
          </a:p>
          <a:p>
            <a:pPr lvl="1">
              <a:spcAft>
                <a:spcPts val="400"/>
              </a:spcAft>
            </a:pPr>
            <a:r>
              <a:rPr sz="1050">
                <a:solidFill>
                  <a:srgbClr val="1E293B"/>
                </a:solidFill>
              </a:rPr>
              <a:t>Logistic Regression is recommended for production deployment due to high computational efficiency, interpretability, and smooth probability calibration.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Conclusion &amp; Strategic Business Recommendations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Actionable Takeaways for Aerospace Competitors Bidding Against SpaceX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Predictive Feasibility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Machine learning classification reliably predicts Falcon 9 booster recovery with 83.33% accuracy, allowing aerospace competitors to forecast SpaceX's marginal launch costs.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Operational Risk Profile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Heavy payloads (&gt;6,000 kg) to GTO orbits represent high-risk missions where booster re-entry thermal loads prevent recovery. Competitors can bid aggressively on these missions because SpaceX will likely expend hardware.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Launch Site Selection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KSC LC-39A demonstrates superior operational maturity (76.92% success), while CCAFS SLC-40 exhibits higher landing volatility (42.86%).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Competitive Bidding Guidance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When competing for LEO / smallsat constellations (2,000 - 4,000 kg), expect SpaceX to bid at $62M due to a &gt;72% landing probability. For heavy GTO flights, price bids assuming SpaceX incurs expendable booster costs ($100M+).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Innovative Insights &amp; Future Technical Roadmap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Financial Impact of Misclassifications, Class Rebalancing, and Enterprise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IBM Applied Data Science Capstone | Learner: alfaturachman | GitHub: https://github.com/alfaturachman/IBM-Applied-Data-Science-Capstone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Asymmetric Financial Impact of Errors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Zero False Negatives (FN = 0) ensures sea recovery assets (drone ships, tugboats) are never omitted when a booster lands. However, 3 False Positives (FP = 3) incur ~$200K-$500K in unnecessary sea deployment expenses for unrecovered hardware.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Class Imbalance Remediation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Because successful landings constitute 66.7% of historical data, models naturally bias toward predicting success. Applying SMOTE (Synthetic Minority Over-sampling Technique) or cost-sensitive class weighting will penalize False Positives and improve sensitivity to high-risk flight parameters.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Creative Presentation Architecture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Constructed a unified design system with high-contrast data visualizations, geodetic proximity metrics, and full open-source reproducibility.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1B365D"/>
                </a:solidFill>
              </a:rPr>
              <a:t>Project Code Repository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Full codebase and notebooks available at: https://github.com/alfaturachman/IBM-Applied-Data-Science-Capstone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